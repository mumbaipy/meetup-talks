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59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/mnt/user-data/uploads/17824953878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4864"/>
            <a:ext cx="237744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87452"/>
            <a:ext cx="64008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1600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Algorithms to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" y="433817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Capital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10896" y="9650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are rewriting finance and economic systems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34117" y="1746505"/>
            <a:ext cx="3975353" cy="361713"/>
          </a:xfrm>
          <a:prstGeom prst="roundRect">
            <a:avLst>
              <a:gd name="adj" fmla="val 18421"/>
            </a:avLst>
          </a:prstGeom>
          <a:solidFill>
            <a:srgbClr val="EFF6FF"/>
          </a:solidFill>
          <a:ln w="10160">
            <a:solidFill>
              <a:srgbClr val="DBEAFE"/>
            </a:solidFill>
            <a:prstDash val="solid"/>
          </a:ln>
        </p:spPr>
      </p:sp>
      <p:pic>
        <p:nvPicPr>
          <p:cNvPr id="10" name="Image 1" descr="/home/claude/orig_media/s2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906" y="1812488"/>
            <a:ext cx="209413" cy="2094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10056" y="1842629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 DJ Sanghvi College of Engineering </a:t>
            </a:r>
            <a:b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523919" y="2337420"/>
            <a:ext cx="3985552" cy="355221"/>
          </a:xfrm>
          <a:prstGeom prst="roundRect">
            <a:avLst>
              <a:gd name="adj" fmla="val 18421"/>
            </a:avLst>
          </a:prstGeom>
          <a:solidFill>
            <a:srgbClr val="EFF6FF"/>
          </a:solidFill>
          <a:ln w="10160">
            <a:solidFill>
              <a:srgbClr val="DBEAFE"/>
            </a:solidFill>
            <a:prstDash val="solid"/>
          </a:ln>
        </p:spPr>
      </p:sp>
      <p:pic>
        <p:nvPicPr>
          <p:cNvPr id="13" name="Image 2" descr="/home/claude/orig_media/s2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169" y="2387163"/>
            <a:ext cx="228190" cy="2094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0056" y="233742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Intern  ·  Zeex AI &amp; Internovo Ventures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2504355" y="2875521"/>
            <a:ext cx="3985552" cy="361713"/>
          </a:xfrm>
          <a:prstGeom prst="roundRect">
            <a:avLst>
              <a:gd name="adj" fmla="val 18421"/>
            </a:avLst>
          </a:prstGeom>
          <a:solidFill>
            <a:srgbClr val="EFF6FF"/>
          </a:solidFill>
          <a:ln w="1016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6" name="Image 3" descr="/home/claude/orig_media/s2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946" y="2954669"/>
            <a:ext cx="209413" cy="2094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10056" y="2877149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Tech Developer at Synapse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2504355" y="3559479"/>
            <a:ext cx="4005116" cy="296036"/>
          </a:xfrm>
          <a:prstGeom prst="roundRect">
            <a:avLst>
              <a:gd name="adj" fmla="val 18421"/>
            </a:avLst>
          </a:prstGeom>
          <a:solidFill>
            <a:srgbClr val="EFF6FF"/>
          </a:solidFill>
          <a:ln w="10160">
            <a:solidFill>
              <a:srgbClr val="DBEAFE"/>
            </a:solidFill>
            <a:prstDash val="solid"/>
          </a:ln>
        </p:spPr>
      </p:sp>
      <p:pic>
        <p:nvPicPr>
          <p:cNvPr id="19" name="Image 4" descr="/home/claude/orig_media/s2_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046" y="3601615"/>
            <a:ext cx="209413" cy="2094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944368" y="3500485"/>
            <a:ext cx="3565102" cy="38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Credit Scoring using XAI at ACM     </a:t>
            </a:r>
            <a:endParaRPr lang="en-US" sz="1400" dirty="0"/>
          </a:p>
        </p:txBody>
      </p:sp>
      <p:pic>
        <p:nvPicPr>
          <p:cNvPr id="21" name="Image 5"/>
          <p:cNvPicPr>
            <a:picLocks noChangeAspect="1"/>
          </p:cNvPicPr>
          <p:nvPr/>
        </p:nvPicPr>
        <p:blipFill>
          <a:blip r:embed="rId8"/>
          <a:srcRect t="12500" b="12500"/>
          <a:stretch/>
        </p:blipFill>
        <p:spPr>
          <a:xfrm>
            <a:off x="80032" y="1736702"/>
            <a:ext cx="2314970" cy="2257515"/>
          </a:xfrm>
          <a:prstGeom prst="ellipse">
            <a:avLst/>
          </a:prstGeom>
        </p:spPr>
      </p:pic>
      <p:pic>
        <p:nvPicPr>
          <p:cNvPr id="24" name="Image 6" descr="/home/claude/orig_media/s2_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471" y="1681089"/>
            <a:ext cx="2596193" cy="2257515"/>
          </a:xfrm>
          <a:prstGeom prst="rect">
            <a:avLst/>
          </a:prstGeom>
        </p:spPr>
      </p:pic>
      <p:pic>
        <p:nvPicPr>
          <p:cNvPr id="25" name="Image 7" descr="/home/claude/orig_media/s2_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8912" y="4419956"/>
            <a:ext cx="496239" cy="35951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956789" y="4462151"/>
            <a:ext cx="1342855" cy="317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github.com/vj0246       </a:t>
            </a:r>
            <a:endParaRPr lang="en-US" sz="1200" dirty="0"/>
          </a:p>
        </p:txBody>
      </p:sp>
      <p:pic>
        <p:nvPicPr>
          <p:cNvPr id="27" name="Image 8" descr="/home/claude/orig_media/s2_3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5712" y="4382693"/>
            <a:ext cx="496239" cy="396779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036216" y="4419956"/>
            <a:ext cx="1796842" cy="317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Linkedin.com/in/vivaan-jain</a:t>
            </a:r>
            <a:endParaRPr lang="en-US" sz="1200" dirty="0"/>
          </a:p>
        </p:txBody>
      </p:sp>
      <p:pic>
        <p:nvPicPr>
          <p:cNvPr id="29" name="Image 9" descr="/home/claude/orig_media/s2_3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8510" y="4352695"/>
            <a:ext cx="439007" cy="3728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402355" y="4361111"/>
            <a:ext cx="1765495" cy="317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vivaan.jain246@gmail.com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2743"/>
            <a:ext cx="9144000" cy="632765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6065" y="94957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1600" dirty="0"/>
          </a:p>
        </p:txBody>
      </p:sp>
      <p:pic>
        <p:nvPicPr>
          <p:cNvPr id="5" name="Image 0" descr="/mnt/user-data/uploads/17824953878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"/>
            <a:ext cx="1783080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100" b="1" dirty="0"/>
              <a:t>From Chatbots That Reply to AI Agents That Act</a:t>
            </a:r>
            <a:endParaRPr lang="en-US" sz="2100" b="1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3291840" cy="1481328"/>
          </a:xfrm>
          <a:prstGeom prst="roundRect">
            <a:avLst>
              <a:gd name="adj" fmla="val 61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15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LLM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Responds to one prompt at a time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memory between messages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93852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Cannot autonomously call tools or fetch live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1854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Stops after generating a response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39312" y="15727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480560" y="1078992"/>
            <a:ext cx="4389120" cy="1481328"/>
          </a:xfrm>
          <a:prstGeom prst="roundRect">
            <a:avLst>
              <a:gd name="adj" fmla="val 6173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26864" y="144475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Plans &amp; executes multi step tasks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26864" y="16916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Remembers context across the whole task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26864" y="193852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Calls tools &amp; fetches live data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6864" y="21854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Loops until the task is done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651760"/>
            <a:ext cx="85953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706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37744" y="3090672"/>
            <a:ext cx="1426464" cy="65836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7744" y="3090672"/>
            <a:ext cx="1426464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task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664208" y="3408883"/>
            <a:ext cx="164592" cy="2194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73936" y="335584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865376" y="3090672"/>
            <a:ext cx="1426464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65376" y="3090672"/>
            <a:ext cx="1426464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tool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91840" y="3408883"/>
            <a:ext cx="164592" cy="2194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01568" y="335584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493008" y="3090672"/>
            <a:ext cx="1426464" cy="658368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93008" y="3090672"/>
            <a:ext cx="1426464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19472" y="3408883"/>
            <a:ext cx="164592" cy="2194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0" y="335584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120640" y="3090672"/>
            <a:ext cx="1426464" cy="658368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0" y="3090672"/>
            <a:ext cx="1426464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47104" y="3408883"/>
            <a:ext cx="164592" cy="2194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56832" y="335584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748272" y="3090672"/>
            <a:ext cx="1426464" cy="65836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48272" y="3090672"/>
            <a:ext cx="1426464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if yes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847087" y="3928872"/>
            <a:ext cx="6574535" cy="4571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853947" y="3781044"/>
            <a:ext cx="45719" cy="1478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75904" y="3430828"/>
            <a:ext cx="45719" cy="498043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792224" y="3712464"/>
            <a:ext cx="173736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965960" y="4034333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done → loop back to PLAN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274320" y="455371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45537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2468880" y="455371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468880" y="45537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enabled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4663440" y="455371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663440" y="45537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858000" y="455371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58000" y="45537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A34727E0-7EE8-249E-CA4D-CA02451FF1ED}"/>
              </a:ext>
            </a:extLst>
          </p:cNvPr>
          <p:cNvSpPr/>
          <p:nvPr/>
        </p:nvSpPr>
        <p:spPr>
          <a:xfrm>
            <a:off x="8183880" y="3427830"/>
            <a:ext cx="164592" cy="4688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225BAF-E92E-1274-3A99-A718FC862EB9}"/>
              </a:ext>
            </a:extLst>
          </p:cNvPr>
          <p:cNvSpPr txBox="1"/>
          <p:nvPr/>
        </p:nvSpPr>
        <p:spPr>
          <a:xfrm>
            <a:off x="8328150" y="3343552"/>
            <a:ext cx="817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223760" cy="438912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FINANCE</a:t>
            </a:r>
            <a:endParaRPr lang="en-US" sz="1400" dirty="0"/>
          </a:p>
        </p:txBody>
      </p:sp>
      <p:pic>
        <p:nvPicPr>
          <p:cNvPr id="5" name="Image 0" descr="/mnt/user-data/uploads/17824953878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"/>
            <a:ext cx="1920240" cy="539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669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don't just </a:t>
            </a:r>
            <a:r>
              <a:rPr lang="en-US" sz="2200" b="1" dirty="0" err="1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they act.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2798064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22860">
            <a:solidFill>
              <a:srgbClr val="2563E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1155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1051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01168" y="1627632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9184" y="17007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2048256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" y="1947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signals beyond CIBIL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340864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22402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XAI decisions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01168" y="2761488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65760" y="3182112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3776" y="3090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extracted in seconds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3474720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3776" y="33771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minutes approval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01168" y="3895344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9184" y="39684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65760" y="4315968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3776" y="4224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watch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65760" y="4608576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" y="448665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Auto-freeze on anomaly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182112" y="1051560"/>
            <a:ext cx="2798064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22860">
            <a:solidFill>
              <a:srgbClr val="D97706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115568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675888" y="1051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3200400" y="1606296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27"/>
          <p:cNvSpPr/>
          <p:nvPr/>
        </p:nvSpPr>
        <p:spPr>
          <a:xfrm>
            <a:off x="3310128" y="17007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3346704" y="2048256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474720" y="1938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+ macro + sentiment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346704" y="2340864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474720" y="22494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 updates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3182112" y="2761488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310128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3346704" y="3182112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474720" y="3090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 desk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3346704" y="3474720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480816" y="33893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BUY/HOLD/SELL + thesis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3182112" y="3895344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310128" y="39684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3346704" y="4315968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493008" y="4224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→ you approve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3346704" y="4608576"/>
            <a:ext cx="6400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488436" y="44714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tested daily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6163056" y="1051560"/>
            <a:ext cx="2798064" cy="502920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22860">
            <a:solidFill>
              <a:srgbClr val="0D9488"/>
            </a:solidFill>
            <a:prstDash val="solid"/>
          </a:ln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115568"/>
            <a:ext cx="292608" cy="29260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656832" y="1051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6163056" y="1627632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291072" y="17007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Processing</a:t>
            </a:r>
            <a:endParaRPr lang="en-US" sz="1300" dirty="0"/>
          </a:p>
        </p:txBody>
      </p:sp>
      <p:sp>
        <p:nvSpPr>
          <p:cNvPr id="54" name="Shape 48"/>
          <p:cNvSpPr/>
          <p:nvPr/>
        </p:nvSpPr>
        <p:spPr>
          <a:xfrm>
            <a:off x="6327648" y="2048256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455664" y="1938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read + policy check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6327648" y="2340864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455664" y="22555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for low-risk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6163056" y="2761488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291072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>
            <a:off x="6327648" y="3182112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6437376" y="30723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asset monitoring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6327648" y="3474720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455664" y="33832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re-pricing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6163056" y="3877056"/>
            <a:ext cx="27980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6291072" y="39684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6327648" y="4315968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6437376" y="4224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queries end-to-end</a:t>
            </a:r>
            <a:endParaRPr lang="en-US" sz="1100" dirty="0"/>
          </a:p>
        </p:txBody>
      </p:sp>
      <p:sp>
        <p:nvSpPr>
          <p:cNvPr id="68" name="Shape 62"/>
          <p:cNvSpPr/>
          <p:nvPr/>
        </p:nvSpPr>
        <p:spPr>
          <a:xfrm>
            <a:off x="6327648" y="4608576"/>
            <a:ext cx="640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6437376" y="45049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only when needed</a:t>
            </a:r>
            <a:endParaRPr lang="en-US" sz="1100" dirty="0"/>
          </a:p>
        </p:txBody>
      </p:sp>
      <p:sp>
        <p:nvSpPr>
          <p:cNvPr id="70" name="Shape 64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20624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WORKS</a:t>
            </a:r>
            <a:endParaRPr lang="en-US" sz="1300" dirty="0"/>
          </a:p>
        </p:txBody>
      </p:sp>
      <p:pic>
        <p:nvPicPr>
          <p:cNvPr id="5" name="Image 0" descr="/mnt/user-data/uploads/17824953878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"/>
            <a:ext cx="1783080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Flow &amp; Human-in-the-Loop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321808" y="530352"/>
            <a:ext cx="22860" cy="4608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987552"/>
            <a:ext cx="4754880" cy="420624"/>
          </a:xfrm>
          <a:prstGeom prst="roundRect">
            <a:avLst>
              <a:gd name="adj" fmla="val 19565"/>
            </a:avLst>
          </a:prstGeom>
          <a:solidFill>
            <a:srgbClr val="EF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987552"/>
            <a:ext cx="47548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—  Stock ticker  +  Task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20670" y="1408176"/>
            <a:ext cx="25603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15544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56032" y="1591056"/>
            <a:ext cx="475488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1591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 →  FastAPI  →  SSE stream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20670" y="1847088"/>
            <a:ext cx="25603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42032" y="199339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56032" y="2029968"/>
            <a:ext cx="4754880" cy="420624"/>
          </a:xfrm>
          <a:prstGeom prst="roundRect">
            <a:avLst>
              <a:gd name="adj" fmla="val 19565"/>
            </a:avLst>
          </a:prstGeom>
          <a:solidFill>
            <a:srgbClr val="CCFBF1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" y="2029968"/>
            <a:ext cx="47548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  —  Groq · gpt-oss-120b  — Proposes ONE next step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20670" y="2450592"/>
            <a:ext cx="25603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42032" y="259689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56032" y="2633472"/>
            <a:ext cx="4754880" cy="530352"/>
          </a:xfrm>
          <a:prstGeom prst="roundRect">
            <a:avLst>
              <a:gd name="adj" fmla="val 17241"/>
            </a:avLst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" y="2651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56032" y="29077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proposed step pauses here — you decide what happens next.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39089" y="3163824"/>
            <a:ext cx="2377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331012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56032" y="3364992"/>
            <a:ext cx="1389888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2032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" y="33649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56032" y="35661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9089" y="3730752"/>
            <a:ext cx="23774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380390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56032" y="3840480"/>
            <a:ext cx="1389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3840480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tools → live data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6032" y="4315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context grows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re-proposes (max 6)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475281" y="3163824"/>
            <a:ext cx="23774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04872" y="331012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92224" y="3364992"/>
            <a:ext cx="1389888" cy="36576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20320">
            <a:solidFill>
              <a:srgbClr val="EA58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792224" y="33649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REDIRECT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792224" y="35661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new direction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475281" y="3730752"/>
            <a:ext cx="23774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04872" y="380390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792224" y="3840480"/>
            <a:ext cx="1389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792224" y="3840480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plan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proposal generated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792224" y="4315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Human Gate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011473" y="3163824"/>
            <a:ext cx="2377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41064" y="331012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3328416" y="3364992"/>
            <a:ext cx="1389888" cy="36576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20320">
            <a:solidFill>
              <a:srgbClr val="DC262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28416" y="33649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STOP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328416" y="35661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session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011473" y="3730752"/>
            <a:ext cx="23774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41064" y="380390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3328416" y="3840480"/>
            <a:ext cx="1389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DC262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328416" y="3840480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from context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134357" y="2290572"/>
            <a:ext cx="45719" cy="2368295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84064" y="2212848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5010912" y="2240280"/>
            <a:ext cx="128016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486400" y="56692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5486400" y="987552"/>
            <a:ext cx="3401568" cy="713232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577840" y="1078992"/>
            <a:ext cx="54864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05856" y="105156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System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705856" y="12435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Agent (step HITL) · Chat Agent (ReAct) · Multi-Agent Desk  agents calling agents.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1792224"/>
            <a:ext cx="3401568" cy="713232"/>
          </a:xfrm>
          <a:prstGeom prst="roundRect">
            <a:avLst>
              <a:gd name="adj" fmla="val 11538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577840" y="1883664"/>
            <a:ext cx="54864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05856" y="18562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interrupt() — Plain HTTP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705856" y="20543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= dict + HTTP round trip. Reliable everywhere. No MemorySaver.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5486400" y="2596896"/>
            <a:ext cx="3401568" cy="713232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577840" y="2688336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705856" y="26609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Only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5705856" y="28620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invents numbers. Every figure is fetched by a tool first.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5486400" y="3401568"/>
            <a:ext cx="3401568" cy="713232"/>
          </a:xfrm>
          <a:prstGeom prst="roundRect">
            <a:avLst>
              <a:gd name="adj" fmla="val 1153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577840" y="3493008"/>
            <a:ext cx="54864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705856" y="346557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Data Fallback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5705856" y="36576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→ NSE → yfinance → 12 stock seed. LIVE/SAMPLE badge on every call.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4206240"/>
            <a:ext cx="3401568" cy="713232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577840" y="4297680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705856" y="42702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- Steps Stream Live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5705856" y="44531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and proposal streams to the browser instantly.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3F7C4011-752E-219F-DD84-25EFEF2E532D}"/>
              </a:ext>
            </a:extLst>
          </p:cNvPr>
          <p:cNvSpPr/>
          <p:nvPr/>
        </p:nvSpPr>
        <p:spPr>
          <a:xfrm flipV="1">
            <a:off x="376428" y="4636006"/>
            <a:ext cx="4791456" cy="4571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0" name="Shape 49">
            <a:extLst>
              <a:ext uri="{FF2B5EF4-FFF2-40B4-BE49-F238E27FC236}">
                <a16:creationId xmlns:a16="http://schemas.microsoft.com/office/drawing/2014/main" id="{B29BF727-65C8-1469-C26F-B1A9ADF4493B}"/>
              </a:ext>
            </a:extLst>
          </p:cNvPr>
          <p:cNvSpPr/>
          <p:nvPr/>
        </p:nvSpPr>
        <p:spPr>
          <a:xfrm>
            <a:off x="1938071" y="4279393"/>
            <a:ext cx="45719" cy="29717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2" name="Shape 49">
            <a:extLst>
              <a:ext uri="{FF2B5EF4-FFF2-40B4-BE49-F238E27FC236}">
                <a16:creationId xmlns:a16="http://schemas.microsoft.com/office/drawing/2014/main" id="{E6CA7566-3FE2-71EF-CDEF-FA7C8AA65F59}"/>
              </a:ext>
            </a:extLst>
          </p:cNvPr>
          <p:cNvSpPr/>
          <p:nvPr/>
        </p:nvSpPr>
        <p:spPr>
          <a:xfrm>
            <a:off x="376427" y="4290061"/>
            <a:ext cx="45719" cy="2865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7D7F2B3B-CF00-DABE-18FF-75EF880B0295}"/>
              </a:ext>
            </a:extLst>
          </p:cNvPr>
          <p:cNvSpPr/>
          <p:nvPr/>
        </p:nvSpPr>
        <p:spPr>
          <a:xfrm>
            <a:off x="1822323" y="4528561"/>
            <a:ext cx="268986" cy="15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97BED4E0-3B56-CC2B-3EAA-198E2CBEFDC6}"/>
              </a:ext>
            </a:extLst>
          </p:cNvPr>
          <p:cNvSpPr/>
          <p:nvPr/>
        </p:nvSpPr>
        <p:spPr>
          <a:xfrm>
            <a:off x="252260" y="4525134"/>
            <a:ext cx="294513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491</Words>
  <Application>Microsoft Office PowerPoint</Application>
  <PresentationFormat>On-screen Show (16:9)</PresentationFormat>
  <Paragraphs>126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Algorithms to Autonomous Capital — MumPy 2026</dc:title>
  <dc:subject>PptxGenJS Presentation</dc:subject>
  <dc:creator>PptxGenJS</dc:creator>
  <cp:lastModifiedBy>Vivaan Jain</cp:lastModifiedBy>
  <cp:revision>3</cp:revision>
  <dcterms:created xsi:type="dcterms:W3CDTF">2026-06-26T18:01:45Z</dcterms:created>
  <dcterms:modified xsi:type="dcterms:W3CDTF">2026-06-26T19:47:35Z</dcterms:modified>
</cp:coreProperties>
</file>